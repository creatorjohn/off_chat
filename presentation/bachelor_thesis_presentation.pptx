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3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600"/>
              </a:spcAft>
            </a:pPr>
            <a:r>
              <a:rPr sz="3600" b="1">
                <a:solidFill>
                  <a:srgbClr val="F2CA50"/>
                </a:solidFill>
                <a:latin typeface="Plus Jakarta Sans"/>
              </a:rPr>
              <a:t>Mobilní aplikace pro navazování kontaktů
mezi spolucestujícími v letadle</a:t>
            </a:r>
          </a:p>
          <a:p>
            <a:pPr algn="ctr">
              <a:spcAft>
                <a:spcPts val="4000"/>
              </a:spcAft>
            </a:pPr>
            <a:r>
              <a:rPr sz="1800">
                <a:solidFill>
                  <a:srgbClr val="E5E5E5"/>
                </a:solidFill>
                <a:latin typeface="Plus Jakarta Sans"/>
              </a:rPr>
              <a:t>Mobile App for Connecting Fellow Passengers on a Plane</a:t>
            </a:r>
          </a:p>
          <a:p>
            <a:pPr algn="ctr">
              <a:spcAft>
                <a:spcPts val="1000"/>
              </a:spcAft>
            </a:pPr>
            <a:r>
              <a:rPr sz="1600">
                <a:solidFill>
                  <a:srgbClr val="F2CA50"/>
                </a:solidFill>
                <a:latin typeface="Outfit"/>
              </a:rPr>
              <a:t>Bakalářská práce | Otevřená informatika
Jan Novotný | ČVUT FEL</a:t>
            </a:r>
          </a:p>
          <a:p>
            <a:pPr algn="ctr"/>
            <a:r>
              <a:rPr sz="1400">
                <a:solidFill>
                  <a:srgbClr val="9A9A9A"/>
                </a:solidFill>
                <a:latin typeface="Outfit"/>
              </a:rPr>
              <a:t>Vedoucí práce: Ing. Božena Mannová, Ph.D. | Květen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3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F2CA50"/>
                </a:solidFill>
                <a:latin typeface="Plus Jakarta Sans"/>
              </a:rPr>
              <a:t>KONTEXT A MOTIVACE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4552" cy="18288"/>
          </a:xfrm>
          <a:prstGeom prst="rect">
            <a:avLst/>
          </a:prstGeom>
          <a:solidFill>
            <a:srgbClr val="F2CA50"/>
          </a:solidFill>
          <a:ln>
            <a:solidFill>
              <a:srgbClr val="F2C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5486400" cy="4754880"/>
          </a:xfrm>
          <a:prstGeom prst="rect">
            <a:avLst/>
          </a:prstGeom>
          <a:solidFill>
            <a:srgbClr val="1C1C1C"/>
          </a:solidFill>
          <a:ln w="12700">
            <a:solidFill>
              <a:srgbClr val="F2C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502920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F2CA50"/>
                </a:solidFill>
                <a:latin typeface="Plus Jakarta Sans"/>
              </a:rPr>
              <a:t>PROBLÉM: IZOLOVANÉ PROSTŘEDÍ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E5E5E5"/>
                </a:solidFill>
                <a:latin typeface="Outfit"/>
              </a:rPr>
              <a:t>• Paluba letadla funguje jako Faradayova klec — absence mobilního signálu a internetového připojení.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E5E5E5"/>
                </a:solidFill>
                <a:latin typeface="Outfit"/>
              </a:rPr>
              <a:t>• Nemožnost komunikace se spolucestujícími nebo sdílení informací o přestupech a cílech cesty.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E5E5E5"/>
                </a:solidFill>
                <a:latin typeface="Outfit"/>
              </a:rPr>
              <a:t>• Tradiční platformy a protokoly vyžadují centrální infrastrukturu (router, přístupový bod).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463040"/>
            <a:ext cx="5486400" cy="4754880"/>
          </a:xfrm>
          <a:prstGeom prst="rect">
            <a:avLst/>
          </a:prstGeom>
          <a:solidFill>
            <a:srgbClr val="1C1C1C"/>
          </a:solidFill>
          <a:ln w="12700">
            <a:solidFill>
              <a:srgbClr val="F2C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91640"/>
            <a:ext cx="502920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F2CA50"/>
                </a:solidFill>
                <a:latin typeface="Plus Jakarta Sans"/>
              </a:rPr>
              <a:t>ŘEŠENÍ: OFF CHAT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E5E5E5"/>
                </a:solidFill>
                <a:latin typeface="Outfit"/>
              </a:rPr>
              <a:t>• Decentralizovaná, offline-first peer-to-peer (P2P) komunikační síť.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E5E5E5"/>
                </a:solidFill>
                <a:latin typeface="Outfit"/>
              </a:rPr>
              <a:t>• Využití standardních rádiových rozhraní chytrých telefonů prostřednictvím Bluetooth Low Energy (BLE).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E5E5E5"/>
                </a:solidFill>
                <a:latin typeface="Outfit"/>
              </a:rPr>
              <a:t>• Mesh topologie pracující na principu Store &amp; Forward pro přenos zpráv přes prostředníky bez internetu.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3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F2CA50"/>
                </a:solidFill>
                <a:latin typeface="Plus Jakarta Sans"/>
              </a:rPr>
              <a:t>BLE DISCOVERY &amp; ZERO-READ PROTOKOL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4552" cy="18288"/>
          </a:xfrm>
          <a:prstGeom prst="rect">
            <a:avLst/>
          </a:prstGeom>
          <a:solidFill>
            <a:srgbClr val="F2CA50"/>
          </a:solidFill>
          <a:ln>
            <a:solidFill>
              <a:srgbClr val="F2C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5486400" cy="4754880"/>
          </a:xfrm>
          <a:prstGeom prst="rect">
            <a:avLst/>
          </a:prstGeom>
          <a:solidFill>
            <a:srgbClr val="1C1C1C"/>
          </a:solidFill>
          <a:ln w="12700">
            <a:solidFill>
              <a:srgbClr val="F2C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502920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F2CA50"/>
                </a:solidFill>
                <a:latin typeface="Plus Jakarta Sans"/>
              </a:rPr>
              <a:t>STRUKTURA PAKETŮ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E5E5E5"/>
                </a:solidFill>
                <a:latin typeface="Outfit"/>
              </a:rPr>
              <a:t>• Hlavní reklamní paket (Primary Advert - 5 bajtů):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E5E5E5"/>
                </a:solidFill>
                <a:latin typeface="Outfit"/>
              </a:rPr>
              <a:t>   - Bytes 0-3: Stable Device ID (32-bit uint) pro stálou identitu.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E5E5E5"/>
                </a:solidFill>
                <a:latin typeface="Outfit"/>
              </a:rPr>
              <a:t>   - Byte 4: 6-bitový Version Tag profilu + 2 bity flagy (iOS, Online status).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E5E5E5"/>
                </a:solidFill>
                <a:latin typeface="Outfit"/>
              </a:rPr>
              <a:t>• Skenovací odezva (Scan Response - 12 bajtů):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E5E5E5"/>
                </a:solidFill>
                <a:latin typeface="Outfit"/>
              </a:rPr>
              <a:t>   - Bytes 0-5: Komprimovaná zeměpisná šířka a délka (24-bit float).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E5E5E5"/>
                </a:solidFill>
                <a:latin typeface="Outfit"/>
              </a:rPr>
              <a:t>   - Bytes 6-11: Plný otisk profilu (Profile Hash) pro detekci změn.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463040"/>
            <a:ext cx="5486400" cy="4754880"/>
          </a:xfrm>
          <a:prstGeom prst="rect">
            <a:avLst/>
          </a:prstGeom>
          <a:solidFill>
            <a:srgbClr val="1C1C1C"/>
          </a:solidFill>
          <a:ln w="12700">
            <a:solidFill>
              <a:srgbClr val="F2C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91640"/>
            <a:ext cx="502920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F2CA50"/>
                </a:solidFill>
                <a:latin typeface="Plus Jakarta Sans"/>
              </a:rPr>
              <a:t>OPTIMALIZACE A IOS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E5E5E5"/>
                </a:solidFill>
                <a:latin typeface="Outfit"/>
              </a:rPr>
              <a:t>• Zero-Read Discovery: Zařízení jsou identifikována okamžitě z reklamního paketu bez navazování GATT spojení.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E5E5E5"/>
                </a:solidFill>
                <a:latin typeface="Outfit"/>
              </a:rPr>
              <a:t>• iOS Background Mode: iOS v pozadí skrývá Manufacturer Data; vyřešeno tichým GATT připojením k charakteristice 'identityCharUuid'.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E5E5E5"/>
                </a:solidFill>
                <a:latin typeface="Outfit"/>
              </a:rPr>
              <a:t>• Tlumení (Heartbeat): Vysílání každých 300 s při nehybnosti; pohyb nad 111 m okamžitě aktivuje rychlé vysílání.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3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F2CA50"/>
                </a:solidFill>
                <a:latin typeface="Plus Jakarta Sans"/>
              </a:rPr>
              <a:t>SMĚROVACÍ ALGORITMY V MESH SÍTI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4552" cy="18288"/>
          </a:xfrm>
          <a:prstGeom prst="rect">
            <a:avLst/>
          </a:prstGeom>
          <a:solidFill>
            <a:srgbClr val="F2CA50"/>
          </a:solidFill>
          <a:ln>
            <a:solidFill>
              <a:srgbClr val="F2C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5486400" cy="4754880"/>
          </a:xfrm>
          <a:prstGeom prst="rect">
            <a:avLst/>
          </a:prstGeom>
          <a:solidFill>
            <a:srgbClr val="1C1C1C"/>
          </a:solidFill>
          <a:ln w="12700">
            <a:solidFill>
              <a:srgbClr val="F2C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502920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F2CA50"/>
                </a:solidFill>
                <a:latin typeface="Plus Jakarta Sans"/>
              </a:rPr>
              <a:t>ZÁPLAVOVÉ SMĚROVÁNÍ (STARBURST)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E5E5E5"/>
                </a:solidFill>
                <a:latin typeface="Outfit"/>
              </a:rPr>
              <a:t>• Používá se jako spolehlivý fallback při chybějících souřadnicích GPS.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E5E5E5"/>
                </a:solidFill>
                <a:latin typeface="Outfit"/>
              </a:rPr>
              <a:t>• Zprávy jsou přeposílány maximálně 3 sousedům pro ochranu před zahlcením.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E5E5E5"/>
                </a:solidFill>
                <a:latin typeface="Outfit"/>
              </a:rPr>
              <a:t>• Omezení zahlcení sítě: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E5E5E5"/>
                </a:solidFill>
                <a:latin typeface="Outfit"/>
              </a:rPr>
              <a:t>   - Čítač sentCount omezuje přenosy na maximálně 3 sousedy v databázi.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E5E5E5"/>
                </a:solidFill>
                <a:latin typeface="Outfit"/>
              </a:rPr>
              <a:t>   - Striktní limit TTL (Time-To-Live) na 10 skoků.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E5E5E5"/>
                </a:solidFill>
                <a:latin typeface="Outfit"/>
              </a:rPr>
              <a:t>   - Unikátní cache klíč '(originId &lt;&lt; 8) | messageId' pro zamezení duplicitního zpracování.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463040"/>
            <a:ext cx="5486400" cy="4754880"/>
          </a:xfrm>
          <a:prstGeom prst="rect">
            <a:avLst/>
          </a:prstGeom>
          <a:solidFill>
            <a:srgbClr val="1C1C1C"/>
          </a:solidFill>
          <a:ln w="12700">
            <a:solidFill>
              <a:srgbClr val="F2C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91640"/>
            <a:ext cx="502920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F2CA50"/>
                </a:solidFill>
                <a:latin typeface="Plus Jakarta Sans"/>
              </a:rPr>
              <a:t>GEOGRAFICKÉ SMĚROVÁNÍ (DIRECTED BEAM)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E5E5E5"/>
                </a:solidFill>
                <a:latin typeface="Outfit"/>
              </a:rPr>
              <a:t>• Využívá sférickou trigonometrii k výpočtu směrového skóre (Forwarding Score) kandidátů.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E5E5E5"/>
                </a:solidFill>
                <a:latin typeface="Outfit"/>
              </a:rPr>
              <a:t>• Metriky: Úhlová odchylka od cíle (váha 0.6) + RSSI síla signálu (váha 0.4).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E5E5E5"/>
                </a:solidFill>
                <a:latin typeface="Outfit"/>
              </a:rPr>
              <a:t>• Podmínka postupu: Přeposílatel musí být fyzicky blíže k cíli než odesílatel.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E5E5E5"/>
                </a:solidFill>
                <a:latin typeface="Outfit"/>
              </a:rPr>
              <a:t>• Snížení rádiového provozu v síti až o 65 %.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3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F2CA50"/>
                </a:solidFill>
                <a:latin typeface="Plus Jakarta Sans"/>
              </a:rPr>
              <a:t>BEZPEČNOST A KRYPTOARCHITEKTURA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4552" cy="18288"/>
          </a:xfrm>
          <a:prstGeom prst="rect">
            <a:avLst/>
          </a:prstGeom>
          <a:solidFill>
            <a:srgbClr val="F2CA50"/>
          </a:solidFill>
          <a:ln>
            <a:solidFill>
              <a:srgbClr val="F2C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5486400" cy="4754880"/>
          </a:xfrm>
          <a:prstGeom prst="rect">
            <a:avLst/>
          </a:prstGeom>
          <a:solidFill>
            <a:srgbClr val="1C1C1C"/>
          </a:solidFill>
          <a:ln w="12700">
            <a:solidFill>
              <a:srgbClr val="F2C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502920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F2CA50"/>
                </a:solidFill>
                <a:latin typeface="Plus Jakarta Sans"/>
              </a:rPr>
              <a:t>ASYMETRICKÁ KRYPTOGRAFIE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E5E5E5"/>
                </a:solidFill>
                <a:latin typeface="Outfit"/>
              </a:rPr>
              <a:t>• Generování stálých klíčů při prvním spuštění (onboarding).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E5E5E5"/>
                </a:solidFill>
                <a:latin typeface="Outfit"/>
              </a:rPr>
              <a:t>• Využití křivek X25519 pro bezpečnou výměnu klíčů Diffie-Hellman (ECDH).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E5E5E5"/>
                </a:solidFill>
                <a:latin typeface="Outfit"/>
              </a:rPr>
              <a:t>• Privátní klíč je bezpečně uložen v hardwarově chráněném úložišti (FlutterSecureStorage).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E5E5E5"/>
                </a:solidFill>
                <a:latin typeface="Outfit"/>
              </a:rPr>
              <a:t>• Výměna veřejných klíčů probíhá automaticky při prvním kontaktu (IdentityPacket).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463040"/>
            <a:ext cx="5486400" cy="4754880"/>
          </a:xfrm>
          <a:prstGeom prst="rect">
            <a:avLst/>
          </a:prstGeom>
          <a:solidFill>
            <a:srgbClr val="1C1C1C"/>
          </a:solidFill>
          <a:ln w="12700">
            <a:solidFill>
              <a:srgbClr val="F2C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91640"/>
            <a:ext cx="502920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F2CA50"/>
                </a:solidFill>
                <a:latin typeface="Plus Jakarta Sans"/>
              </a:rPr>
              <a:t>SYMETRICKÉ ŠIFROVÁNÍ A DATABÁZE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E5E5E5"/>
                </a:solidFill>
                <a:latin typeface="Outfit"/>
              </a:rPr>
              <a:t>• Zprávy jsou šifrovány end-to-end pomocí ChaCha20-Poly1305 AEAD.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E5E5E5"/>
                </a:solidFill>
                <a:latin typeface="Outfit"/>
              </a:rPr>
              <a:t>• Unikátní 12-bajtový náhodný nonce a 16-bajtová značka autenticity (MAC) pro každou zprávu.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E5E5E5"/>
                </a:solidFill>
                <a:latin typeface="Outfit"/>
              </a:rPr>
              <a:t>• Lokální perzistence zajištěna asynchronní Isar NoSQL databází.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E5E5E5"/>
                </a:solidFill>
                <a:latin typeface="Outfit"/>
              </a:rPr>
              <a:t>• Zajištěna Důvěrnost (Confidentiality), Integrita (Integrity) a Autentizace (Authenticity).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3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F2CA50"/>
                </a:solidFill>
                <a:latin typeface="Plus Jakarta Sans"/>
              </a:rPr>
              <a:t>LOKALIZAČNÍ RADAR A UI AESTHETICS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4552" cy="18288"/>
          </a:xfrm>
          <a:prstGeom prst="rect">
            <a:avLst/>
          </a:prstGeom>
          <a:solidFill>
            <a:srgbClr val="F2CA50"/>
          </a:solidFill>
          <a:ln>
            <a:solidFill>
              <a:srgbClr val="F2C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5486400" cy="4754880"/>
          </a:xfrm>
          <a:prstGeom prst="rect">
            <a:avLst/>
          </a:prstGeom>
          <a:solidFill>
            <a:srgbClr val="1C1C1C"/>
          </a:solidFill>
          <a:ln w="12700">
            <a:solidFill>
              <a:srgbClr val="F2C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502920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F2CA50"/>
                </a:solidFill>
                <a:latin typeface="Plus Jakarta Sans"/>
              </a:rPr>
              <a:t>RADAR A FÚZE SENZORŮ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E5E5E5"/>
                </a:solidFill>
                <a:latin typeface="Outfit"/>
              </a:rPr>
              <a:t>• Vykreslování radarového plátna pomocí CustomPaint zobrazuje relativní polohy okolních uzlů.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E5E5E5"/>
                </a:solidFill>
                <a:latin typeface="Outfit"/>
              </a:rPr>
              <a:t>• Fúze senzorů: Slučování souřadnic GPS z 'geolocator' s magnetickým kurzem z 'flutter_compass'.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E5E5E5"/>
                </a:solidFill>
                <a:latin typeface="Outfit"/>
              </a:rPr>
              <a:t>• Výpočet relativního úhlu: radar se dynamicky otáčí podle fyzické orientace uživatele: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E5E5E5"/>
                </a:solidFill>
                <a:latin typeface="Outfit"/>
              </a:rPr>
              <a:t>   - relativeBearing = (bearing - heading + 360) % 360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463040"/>
            <a:ext cx="5486400" cy="4754880"/>
          </a:xfrm>
          <a:prstGeom prst="rect">
            <a:avLst/>
          </a:prstGeom>
          <a:solidFill>
            <a:srgbClr val="1C1C1C"/>
          </a:solidFill>
          <a:ln w="12700">
            <a:solidFill>
              <a:srgbClr val="F2C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91640"/>
            <a:ext cx="502920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F2CA50"/>
                </a:solidFill>
                <a:latin typeface="Plus Jakarta Sans"/>
              </a:rPr>
              <a:t>LOGARITMICKÉ MĚŘÍTKO A STYL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E5E5E5"/>
                </a:solidFill>
                <a:latin typeface="Outfit"/>
              </a:rPr>
              <a:t>• Logaritmické zobrazení vzdálenosti pro zamezení shlukování blízkých uzlů na obrazovce: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E5E5E5"/>
                </a:solidFill>
                <a:latin typeface="Outfit"/>
              </a:rPr>
              <a:t>   - d_scaled = R_max * ln(1 + d * k) / ln(1 + d_max * k)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E5E5E5"/>
                </a:solidFill>
                <a:latin typeface="Outfit"/>
              </a:rPr>
              <a:t>• Designový styl Aurelian Noir (obsidiánová čerň `#131313`, zlaté akcenty `#F2CA50`, písmo Plus Jakarta Sans).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E5E5E5"/>
                </a:solidFill>
                <a:latin typeface="Outfit"/>
              </a:rPr>
              <a:t>• Animovaný radarový paprsek (SweepGradient).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3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F2CA50"/>
                </a:solidFill>
                <a:latin typeface="Plus Jakarta Sans"/>
              </a:rPr>
              <a:t>DOSAŽENÉ VÝSLEDKY A TESTOVÁNÍ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4552" cy="18288"/>
          </a:xfrm>
          <a:prstGeom prst="rect">
            <a:avLst/>
          </a:prstGeom>
          <a:solidFill>
            <a:srgbClr val="F2CA50"/>
          </a:solidFill>
          <a:ln>
            <a:solidFill>
              <a:srgbClr val="F2C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5486400" cy="4754880"/>
          </a:xfrm>
          <a:prstGeom prst="rect">
            <a:avLst/>
          </a:prstGeom>
          <a:solidFill>
            <a:srgbClr val="1C1C1C"/>
          </a:solidFill>
          <a:ln w="12700">
            <a:solidFill>
              <a:srgbClr val="F2C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502920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F2CA50"/>
                </a:solidFill>
                <a:latin typeface="Plus Jakarta Sans"/>
              </a:rPr>
              <a:t>VÝSLEDKY MĚŘENÍ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E5E5E5"/>
                </a:solidFill>
                <a:latin typeface="Outfit"/>
              </a:rPr>
              <a:t>• Energetická náročnost: Střídání 10s skenování a 50s nečinnosti šetří až 75 % energie na pozadí.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E5E5E5"/>
                </a:solidFill>
                <a:latin typeface="Outfit"/>
              </a:rPr>
              <a:t>• Spolehlivost přenosu: Chunked Transfer Engine spolehlivě dělí a sestavuje větší datové bloky (např. 128x128 WebP profily) podle vyjednané MTU.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E5E5E5"/>
                </a:solidFill>
                <a:latin typeface="Outfit"/>
              </a:rPr>
              <a:t>• Dosah signálu: Úspěšné doručení v interiéru do 15 metrů, v otevřeném prostoru (netsim/netsim-gui) až 45 metrů.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463040"/>
            <a:ext cx="5486400" cy="4754880"/>
          </a:xfrm>
          <a:prstGeom prst="rect">
            <a:avLst/>
          </a:prstGeom>
          <a:solidFill>
            <a:srgbClr val="1C1C1C"/>
          </a:solidFill>
          <a:ln w="12700">
            <a:solidFill>
              <a:srgbClr val="F2C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91640"/>
            <a:ext cx="502920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F2CA50"/>
                </a:solidFill>
                <a:latin typeface="Plus Jakarta Sans"/>
              </a:rPr>
              <a:t>ZÁVĚR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E5E5E5"/>
                </a:solidFill>
                <a:latin typeface="Outfit"/>
              </a:rPr>
              <a:t>• Úspěšný návrh a implementace decentralizované mobilní P2P sítě.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E5E5E5"/>
                </a:solidFill>
                <a:latin typeface="Outfit"/>
              </a:rPr>
              <a:t>• Funkční řešení pro specifické prostředí s chybějící síťovou infrastrukturou.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E5E5E5"/>
                </a:solidFill>
                <a:latin typeface="Outfit"/>
              </a:rPr>
              <a:t>• Aplikace plně splňuje požadavky na bezpečnost (Security Level 4) a prémiový uživatelský zážitek (Digital Concierge).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3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F2CA50"/>
                </a:solidFill>
                <a:latin typeface="Plus Jakarta Sans"/>
              </a:rPr>
              <a:t>VIDEO UKÁZKA (DEMO)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4552" cy="18288"/>
          </a:xfrm>
          <a:prstGeom prst="rect">
            <a:avLst/>
          </a:prstGeom>
          <a:solidFill>
            <a:srgbClr val="F2CA50"/>
          </a:solidFill>
          <a:ln>
            <a:solidFill>
              <a:srgbClr val="F2C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4114800" cy="4754880"/>
          </a:xfrm>
          <a:prstGeom prst="rect">
            <a:avLst/>
          </a:prstGeom>
          <a:solidFill>
            <a:srgbClr val="1C1C1C"/>
          </a:solidFill>
          <a:ln w="12700">
            <a:solidFill>
              <a:srgbClr val="F2C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365760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F2CA50"/>
                </a:solidFill>
                <a:latin typeface="Plus Jakarta Sans"/>
              </a:rPr>
              <a:t>PRŮBĚH DEMONSTRACE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E5E5E5"/>
                </a:solidFill>
                <a:latin typeface="Outfit"/>
              </a:rPr>
              <a:t>• Obrazovka nalezených zařízení (Discovered Devices) — detekce a zobrazení okolních uzlů.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E5E5E5"/>
                </a:solidFill>
                <a:latin typeface="Outfit"/>
              </a:rPr>
              <a:t>• Lokalizační radar (Radar Screen) — dynamické otáčení a logaritmické vykreslení vzdáleností.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E5E5E5"/>
                </a:solidFill>
                <a:latin typeface="Outfit"/>
              </a:rPr>
              <a:t>• Nastavení aplikace (Settings Screen) — správa identity a změna viditelnosti.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E5E5E5"/>
                </a:solidFill>
                <a:latin typeface="Outfit"/>
              </a:rPr>
              <a:t>• Odeslání zprávy (Message Transmission) — šifrovaný chat a doručení ACK.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0" y="1463040"/>
            <a:ext cx="6766560" cy="4754880"/>
          </a:xfrm>
          <a:prstGeom prst="rect">
            <a:avLst/>
          </a:prstGeom>
          <a:solidFill>
            <a:srgbClr val="1C1C1C"/>
          </a:solidFill>
          <a:ln w="25400">
            <a:solidFill>
              <a:srgbClr val="F2C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0" y="3108960"/>
            <a:ext cx="5852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2000" b="1">
                <a:solidFill>
                  <a:srgbClr val="F2CA50"/>
                </a:solidFill>
                <a:latin typeface="Plus Jakarta Sans"/>
              </a:rPr>
              <a:t>[ SHOWCASE VIDEO PLACEHOLDER ]</a:t>
            </a:r>
          </a:p>
          <a:p>
            <a:pPr algn="ctr"/>
            <a:r>
              <a:rPr sz="1300">
                <a:solidFill>
                  <a:srgbClr val="E5E5E5"/>
                </a:solidFill>
                <a:latin typeface="Outfit"/>
              </a:rPr>
              <a:t>Sem přetáhněte nahrávku s průběhem ukázky (Devices, Radar, Settings, Messaging)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